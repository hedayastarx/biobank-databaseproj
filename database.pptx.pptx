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QND Pro UltraWide" charset="1" panose="00000500000000000000"/>
      <p:regular r:id="rId15"/>
    </p:embeddedFon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  <p:embeddedFont>
      <p:font typeface="Open Sauce Semi-Bold" charset="1" panose="000007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https://github.com/hedayastarx/Biobank-databaseproj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74871" y="5935437"/>
            <a:ext cx="12538258" cy="642740"/>
            <a:chOff x="0" y="0"/>
            <a:chExt cx="3127802" cy="1603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7802" cy="160338"/>
            </a:xfrm>
            <a:custGeom>
              <a:avLst/>
              <a:gdLst/>
              <a:ahLst/>
              <a:cxnLst/>
              <a:rect r="r" b="b" t="t" l="l"/>
              <a:pathLst>
                <a:path h="160338" w="3127802">
                  <a:moveTo>
                    <a:pt x="0" y="0"/>
                  </a:moveTo>
                  <a:lnTo>
                    <a:pt x="3127802" y="0"/>
                  </a:lnTo>
                  <a:lnTo>
                    <a:pt x="3127802" y="160338"/>
                  </a:lnTo>
                  <a:lnTo>
                    <a:pt x="0" y="160338"/>
                  </a:lnTo>
                  <a:close/>
                </a:path>
              </a:pathLst>
            </a:custGeom>
            <a:ln w="9525" cap="sq">
              <a:solidFill>
                <a:srgbClr val="FFFFFF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27802" cy="188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11867" y="7555357"/>
            <a:ext cx="19511734" cy="5463285"/>
          </a:xfrm>
          <a:custGeom>
            <a:avLst/>
            <a:gdLst/>
            <a:ahLst/>
            <a:cxnLst/>
            <a:rect r="r" b="b" t="t" l="l"/>
            <a:pathLst>
              <a:path h="5463285" w="19511734">
                <a:moveTo>
                  <a:pt x="0" y="0"/>
                </a:moveTo>
                <a:lnTo>
                  <a:pt x="19511734" y="0"/>
                </a:lnTo>
                <a:lnTo>
                  <a:pt x="19511734" y="5463286"/>
                </a:lnTo>
                <a:lnTo>
                  <a:pt x="0" y="546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61028" y="8892355"/>
            <a:ext cx="365945" cy="365945"/>
          </a:xfrm>
          <a:custGeom>
            <a:avLst/>
            <a:gdLst/>
            <a:ahLst/>
            <a:cxnLst/>
            <a:rect r="r" b="b" t="t" l="l"/>
            <a:pathLst>
              <a:path h="365945" w="365945">
                <a:moveTo>
                  <a:pt x="0" y="0"/>
                </a:moveTo>
                <a:lnTo>
                  <a:pt x="365944" y="0"/>
                </a:lnTo>
                <a:lnTo>
                  <a:pt x="365944" y="365945"/>
                </a:lnTo>
                <a:lnTo>
                  <a:pt x="0" y="365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028700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215069" y="0"/>
                </a:moveTo>
                <a:lnTo>
                  <a:pt x="0" y="0"/>
                </a:lnTo>
                <a:lnTo>
                  <a:pt x="0" y="166972"/>
                </a:lnTo>
                <a:lnTo>
                  <a:pt x="215069" y="166972"/>
                </a:lnTo>
                <a:lnTo>
                  <a:pt x="21506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94760" y="2409035"/>
            <a:ext cx="14098481" cy="306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897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BIOBANK &amp; BIOSPECIMEN MANAGEMENT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52339" y="6116412"/>
            <a:ext cx="12783322" cy="34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2"/>
              </a:lnSpc>
            </a:pPr>
            <a:r>
              <a:rPr lang="en-US" sz="3378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DATABSE PROJECT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69367" y="1111223"/>
            <a:ext cx="12783322" cy="61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2"/>
              </a:lnSpc>
            </a:pPr>
            <a:r>
              <a:rPr lang="en-US" sz="3378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HEDAYA MOSTAFA</a:t>
            </a:r>
          </a:p>
          <a:p>
            <a:pPr algn="ctr">
              <a:lnSpc>
                <a:spcPts val="2162"/>
              </a:lnSpc>
            </a:pPr>
            <a:r>
              <a:rPr lang="en-US" sz="3378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 241002546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52339" y="7442334"/>
            <a:ext cx="12783322" cy="30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2978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DR. MOHAMED MAHMOUD ELSAYEH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7044231" y="1028700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47813" y="9258300"/>
            <a:ext cx="1390393" cy="601661"/>
          </a:xfrm>
          <a:custGeom>
            <a:avLst/>
            <a:gdLst/>
            <a:ahLst/>
            <a:cxnLst/>
            <a:rect r="r" b="b" t="t" l="l"/>
            <a:pathLst>
              <a:path h="601661" w="1390393">
                <a:moveTo>
                  <a:pt x="0" y="0"/>
                </a:moveTo>
                <a:lnTo>
                  <a:pt x="1390393" y="0"/>
                </a:lnTo>
                <a:lnTo>
                  <a:pt x="1390393" y="601661"/>
                </a:lnTo>
                <a:lnTo>
                  <a:pt x="0" y="601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3280" y="862397"/>
            <a:ext cx="17488608" cy="193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9972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PROBLEM STATEMENT &amp;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92570" y="5530596"/>
            <a:ext cx="8302861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database tracks samples from collection to testing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4241" y="4118356"/>
            <a:ext cx="390736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Biological samples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33470"/>
            <a:ext cx="6620712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Biobank need to manage: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20731" y="4118356"/>
            <a:ext cx="390736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Donor consent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50683" y="4118356"/>
            <a:ext cx="390736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Sample storage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84523" y="4118356"/>
            <a:ext cx="390736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Reasearch requests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843017"/>
            <a:ext cx="1596783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scope: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4241" y="7155892"/>
            <a:ext cx="515138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donor information &amp; consent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4241" y="8280478"/>
            <a:ext cx="508286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sample collection &amp; storage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2627" y="7155892"/>
            <a:ext cx="4218370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test requests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42627" y="8284617"/>
            <a:ext cx="390736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test results tracking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09077" y="9258300"/>
            <a:ext cx="1457387" cy="145739"/>
          </a:xfrm>
          <a:custGeom>
            <a:avLst/>
            <a:gdLst/>
            <a:ahLst/>
            <a:cxnLst/>
            <a:rect r="r" b="b" t="t" l="l"/>
            <a:pathLst>
              <a:path h="145739" w="1457387">
                <a:moveTo>
                  <a:pt x="0" y="0"/>
                </a:moveTo>
                <a:lnTo>
                  <a:pt x="1457386" y="0"/>
                </a:lnTo>
                <a:lnTo>
                  <a:pt x="1457386" y="145739"/>
                </a:lnTo>
                <a:lnTo>
                  <a:pt x="0" y="145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76375"/>
            <a:ext cx="13043535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ENTITIES </a:t>
            </a:r>
          </a:p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(9 TABLES)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7393" y="4298194"/>
            <a:ext cx="5265077" cy="317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donors</a:t>
            </a:r>
          </a:p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consent</a:t>
            </a:r>
          </a:p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sample_types</a:t>
            </a:r>
          </a:p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storage_locations</a:t>
            </a:r>
          </a:p>
          <a:p>
            <a:pPr algn="l" marL="777229" indent="-388614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298194"/>
            <a:ext cx="5265077" cy="253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sample_storage</a:t>
            </a:r>
          </a:p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researchers </a:t>
            </a:r>
          </a:p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test_requests</a:t>
            </a:r>
          </a:p>
          <a:p>
            <a:pPr algn="l" marL="777229" indent="-388614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test_results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31748"/>
            <a:ext cx="10270768" cy="7210811"/>
            <a:chOff x="0" y="0"/>
            <a:chExt cx="13694357" cy="961441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4125" t="0" r="4125" b="0"/>
            <a:stretch>
              <a:fillRect/>
            </a:stretch>
          </p:blipFill>
          <p:spPr>
            <a:xfrm flipH="false" flipV="false">
              <a:off x="0" y="0"/>
              <a:ext cx="13694357" cy="9614415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678065" y="2148982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1" y="0"/>
                </a:lnTo>
                <a:lnTo>
                  <a:pt x="1028331" y="1028332"/>
                </a:lnTo>
                <a:lnTo>
                  <a:pt x="0" y="1028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76316" y="367982"/>
            <a:ext cx="10416479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ER DIAGRAM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8065" y="9500613"/>
            <a:ext cx="701271" cy="544441"/>
          </a:xfrm>
          <a:custGeom>
            <a:avLst/>
            <a:gdLst/>
            <a:ahLst/>
            <a:cxnLst/>
            <a:rect r="r" b="b" t="t" l="l"/>
            <a:pathLst>
              <a:path h="544441" w="701271">
                <a:moveTo>
                  <a:pt x="0" y="0"/>
                </a:moveTo>
                <a:lnTo>
                  <a:pt x="701270" y="0"/>
                </a:lnTo>
                <a:lnTo>
                  <a:pt x="701270" y="544442"/>
                </a:lnTo>
                <a:lnTo>
                  <a:pt x="0" y="544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0948832" y="2148982"/>
            <a:ext cx="701271" cy="544441"/>
          </a:xfrm>
          <a:custGeom>
            <a:avLst/>
            <a:gdLst/>
            <a:ahLst/>
            <a:cxnLst/>
            <a:rect r="r" b="b" t="t" l="l"/>
            <a:pathLst>
              <a:path h="544441" w="701271">
                <a:moveTo>
                  <a:pt x="0" y="0"/>
                </a:moveTo>
                <a:lnTo>
                  <a:pt x="701271" y="0"/>
                </a:lnTo>
                <a:lnTo>
                  <a:pt x="701271" y="544441"/>
                </a:lnTo>
                <a:lnTo>
                  <a:pt x="0" y="544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21771" y="8986448"/>
            <a:ext cx="1028332" cy="1028332"/>
          </a:xfrm>
          <a:custGeom>
            <a:avLst/>
            <a:gdLst/>
            <a:ahLst/>
            <a:cxnLst/>
            <a:rect r="r" b="b" t="t" l="l"/>
            <a:pathLst>
              <a:path h="1028332" w="1028332">
                <a:moveTo>
                  <a:pt x="0" y="0"/>
                </a:moveTo>
                <a:lnTo>
                  <a:pt x="1028332" y="0"/>
                </a:lnTo>
                <a:lnTo>
                  <a:pt x="1028332" y="1028331"/>
                </a:lnTo>
                <a:lnTo>
                  <a:pt x="0" y="1028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291" y="3107662"/>
            <a:ext cx="426818" cy="81442"/>
            <a:chOff x="0" y="0"/>
            <a:chExt cx="112413" cy="21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413" cy="21450"/>
            </a:xfrm>
            <a:custGeom>
              <a:avLst/>
              <a:gdLst/>
              <a:ahLst/>
              <a:cxnLst/>
              <a:rect r="r" b="b" t="t" l="l"/>
              <a:pathLst>
                <a:path h="21450" w="112413">
                  <a:moveTo>
                    <a:pt x="0" y="0"/>
                  </a:moveTo>
                  <a:lnTo>
                    <a:pt x="112413" y="0"/>
                  </a:lnTo>
                  <a:lnTo>
                    <a:pt x="112413" y="21450"/>
                  </a:lnTo>
                  <a:lnTo>
                    <a:pt x="0" y="2145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2413" cy="5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41473" y="883695"/>
            <a:ext cx="1238348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NORMALIZATION (3NF)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81539"/>
            <a:ext cx="10879090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1NF: All tables have primary keys, atomic values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648817"/>
            <a:ext cx="10879090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2NF: No partial dependencies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216095"/>
            <a:ext cx="10879090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3NF: No transitive dependencies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99748" y="9049702"/>
            <a:ext cx="5288503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Database is fully normalized to 3NF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1811" y="9002499"/>
            <a:ext cx="1512802" cy="511602"/>
          </a:xfrm>
          <a:custGeom>
            <a:avLst/>
            <a:gdLst/>
            <a:ahLst/>
            <a:cxnLst/>
            <a:rect r="r" b="b" t="t" l="l"/>
            <a:pathLst>
              <a:path h="511602" w="1512802">
                <a:moveTo>
                  <a:pt x="0" y="0"/>
                </a:moveTo>
                <a:lnTo>
                  <a:pt x="1512802" y="0"/>
                </a:lnTo>
                <a:lnTo>
                  <a:pt x="1512802" y="511602"/>
                </a:lnTo>
                <a:lnTo>
                  <a:pt x="0" y="511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29927" y="447675"/>
            <a:ext cx="7329373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VIEWS &amp; TRIGGERS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63859"/>
            <a:ext cx="154893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views: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59006"/>
            <a:ext cx="515138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sample_tracking_view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959006"/>
            <a:ext cx="5151385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research_request_summary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67300"/>
            <a:ext cx="1955635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triggers: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56940"/>
            <a:ext cx="8309284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update storage capacity when sample is stored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72001"/>
            <a:ext cx="8309284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update sample status when test completes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7298" y="8038510"/>
            <a:ext cx="3022002" cy="1219790"/>
          </a:xfrm>
          <a:custGeom>
            <a:avLst/>
            <a:gdLst/>
            <a:ahLst/>
            <a:cxnLst/>
            <a:rect r="r" b="b" t="t" l="l"/>
            <a:pathLst>
              <a:path h="1219790" w="3022002">
                <a:moveTo>
                  <a:pt x="0" y="0"/>
                </a:moveTo>
                <a:lnTo>
                  <a:pt x="3022002" y="0"/>
                </a:lnTo>
                <a:lnTo>
                  <a:pt x="3022002" y="1219790"/>
                </a:lnTo>
                <a:lnTo>
                  <a:pt x="0" y="1219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966970" y="502384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060" y="646616"/>
            <a:ext cx="1185091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SAMPLE QUERY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3341" y="3110913"/>
            <a:ext cx="16828677" cy="23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 s.sample_id, d.first_name, d.last_name, st.type_name FROM Samples s JOIN Donors d ON s.donor_id = d.donor_id JOIN Sample_Types st ON s.type_id = st.type_id WHERE s.sample_status = 'Available';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3341" y="6901090"/>
            <a:ext cx="1153634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-shows all available samples with donor and type information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27954" y="778242"/>
            <a:ext cx="215069" cy="166972"/>
          </a:xfrm>
          <a:custGeom>
            <a:avLst/>
            <a:gdLst/>
            <a:ahLst/>
            <a:cxnLst/>
            <a:rect r="r" b="b" t="t" l="l"/>
            <a:pathLst>
              <a:path h="166972" w="215069">
                <a:moveTo>
                  <a:pt x="0" y="0"/>
                </a:moveTo>
                <a:lnTo>
                  <a:pt x="215069" y="0"/>
                </a:lnTo>
                <a:lnTo>
                  <a:pt x="215069" y="166972"/>
                </a:lnTo>
                <a:lnTo>
                  <a:pt x="0" y="16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57077" y="9078277"/>
            <a:ext cx="2384824" cy="992954"/>
          </a:xfrm>
          <a:custGeom>
            <a:avLst/>
            <a:gdLst/>
            <a:ahLst/>
            <a:cxnLst/>
            <a:rect r="r" b="b" t="t" l="l"/>
            <a:pathLst>
              <a:path h="992954" w="2384824">
                <a:moveTo>
                  <a:pt x="0" y="0"/>
                </a:moveTo>
                <a:lnTo>
                  <a:pt x="2384824" y="0"/>
                </a:lnTo>
                <a:lnTo>
                  <a:pt x="2384824" y="992954"/>
                </a:lnTo>
                <a:lnTo>
                  <a:pt x="0" y="99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7682" y="831198"/>
            <a:ext cx="929658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9600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672" y="2152076"/>
            <a:ext cx="16703818" cy="8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project successfully implements a relational database for a biobank facility using MySQL.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&amp; ready for deployment in real world biobank to manage Donors, samples, storage, &amp; research requests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61467" y="9049702"/>
            <a:ext cx="11365065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GitHub Repository: </a:t>
            </a:r>
            <a:r>
              <a:rPr lang="en-US" b="true" sz="2399" u="sng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  <a:hlinkClick r:id="rId6" tooltip="https://github.com/hedayastarx/Biobank-databaseproj"/>
              </a:rPr>
              <a:t>https://github.com/hedayastarx/Biobank-databasepro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672" y="3496030"/>
            <a:ext cx="4670311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Key achievements: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672" y="4533021"/>
            <a:ext cx="13578884" cy="364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 tables with proper relationships</a:t>
            </a:r>
          </a:p>
          <a:p>
            <a:pPr algn="l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normalized to third normal form (3NF)</a:t>
            </a:r>
          </a:p>
          <a:p>
            <a:pPr algn="l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 views for reporting</a:t>
            </a:r>
          </a:p>
          <a:p>
            <a:pPr algn="l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 triggers for automation</a:t>
            </a:r>
          </a:p>
          <a:p>
            <a:pPr algn="l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 stored procedures and 1 function</a:t>
            </a:r>
          </a:p>
          <a:p>
            <a:pPr algn="l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 data with 10+ records per table</a:t>
            </a:r>
          </a:p>
          <a:p>
            <a:pPr algn="l" marL="647692" indent="-323846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sample queries demonstrating JOINs, aggregation, and subqueries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033">
                <a:alpha val="100000"/>
              </a:srgbClr>
            </a:gs>
            <a:gs pos="100000">
              <a:srgbClr val="14399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1867" y="7555357"/>
            <a:ext cx="19511734" cy="5463285"/>
          </a:xfrm>
          <a:custGeom>
            <a:avLst/>
            <a:gdLst/>
            <a:ahLst/>
            <a:cxnLst/>
            <a:rect r="r" b="b" t="t" l="l"/>
            <a:pathLst>
              <a:path h="5463285" w="19511734">
                <a:moveTo>
                  <a:pt x="0" y="0"/>
                </a:moveTo>
                <a:lnTo>
                  <a:pt x="19511734" y="0"/>
                </a:lnTo>
                <a:lnTo>
                  <a:pt x="19511734" y="5463286"/>
                </a:lnTo>
                <a:lnTo>
                  <a:pt x="0" y="546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33139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0" y="0"/>
                </a:moveTo>
                <a:lnTo>
                  <a:pt x="332473" y="0"/>
                </a:lnTo>
                <a:lnTo>
                  <a:pt x="332473" y="332473"/>
                </a:lnTo>
                <a:lnTo>
                  <a:pt x="0" y="33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26827" y="3833139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332473" y="0"/>
                </a:moveTo>
                <a:lnTo>
                  <a:pt x="0" y="0"/>
                </a:lnTo>
                <a:lnTo>
                  <a:pt x="0" y="332473"/>
                </a:lnTo>
                <a:lnTo>
                  <a:pt x="332473" y="332473"/>
                </a:lnTo>
                <a:lnTo>
                  <a:pt x="3324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65578" y="3492022"/>
            <a:ext cx="13756844" cy="146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14757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THANK YOU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28700" y="5148262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80660" y="3056851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DAHSRdqisfg</dc:identifier>
  <dcterms:modified xsi:type="dcterms:W3CDTF">2011-08-01T06:04:30Z</dcterms:modified>
  <cp:revision>1</cp:revision>
  <dc:title>Blue and White Futuristic Blockchain Presentation</dc:title>
</cp:coreProperties>
</file>